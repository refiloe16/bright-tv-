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3D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0B1A3D"/>
                </a:solidFill>
                <a:latin typeface="Georgia"/>
              </a:rPr>
              <a:t>Sessions by day of week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B1A3D">
                <a:alpha val="100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A3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957</c:v>
                </c:pt>
                <c:pt idx="1">
                  <c:v>1186</c:v>
                </c:pt>
                <c:pt idx="2">
                  <c:v>1389</c:v>
                </c:pt>
                <c:pt idx="3">
                  <c:v>1741</c:v>
                </c:pt>
                <c:pt idx="4">
                  <c:v>1675</c:v>
                </c:pt>
                <c:pt idx="5">
                  <c:v>1633</c:v>
                </c:pt>
                <c:pt idx="6">
                  <c:v>1419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8D-449F-A309-D2DF22F2D0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777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3D"/>
                </a:solidFill>
                <a:latin typeface="Georgia"/>
              </a:defRPr>
            </a:pPr>
            <a:r>
              <a:rPr lang="en-ZA" sz="1400" b="0" i="0" u="none" strike="noStrike">
                <a:solidFill>
                  <a:srgbClr val="0B1A3D"/>
                </a:solidFill>
                <a:latin typeface="Georgia"/>
              </a:rPr>
              <a:t>Sessions by daypart (SAST)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96167">
                <a:alpha val="100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A3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Late night
00–05</c:v>
                </c:pt>
                <c:pt idx="1">
                  <c:v>Morning
06–11</c:v>
                </c:pt>
                <c:pt idx="2">
                  <c:v>Afternoon
12–16</c:v>
                </c:pt>
                <c:pt idx="3">
                  <c:v>Evening
17–20</c:v>
                </c:pt>
                <c:pt idx="4">
                  <c:v>Night
21–23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612</c:v>
                </c:pt>
                <c:pt idx="1">
                  <c:v>2284</c:v>
                </c:pt>
                <c:pt idx="2">
                  <c:v>2533</c:v>
                </c:pt>
                <c:pt idx="3">
                  <c:v>2932</c:v>
                </c:pt>
                <c:pt idx="4">
                  <c:v>1639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0D-43F8-961E-FCD2A332DA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777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3D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0B1A3D"/>
                </a:solidFill>
                <a:latin typeface="Georgia"/>
              </a:rPr>
              <a:t>Top 10 channels by sessions (Q1)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B1A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A3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Supersport Live</c:v>
                </c:pt>
                <c:pt idx="1">
                  <c:v>ICC Cricket WC</c:v>
                </c:pt>
                <c:pt idx="2">
                  <c:v>Channel O</c:v>
                </c:pt>
                <c:pt idx="3">
                  <c:v>Trace TV</c:v>
                </c:pt>
                <c:pt idx="4">
                  <c:v>Cartoon Network</c:v>
                </c:pt>
                <c:pt idx="5">
                  <c:v>Boomerang</c:v>
                </c:pt>
                <c:pt idx="6">
                  <c:v>SawSee</c:v>
                </c:pt>
                <c:pt idx="7">
                  <c:v>Mzansi Magic</c:v>
                </c:pt>
                <c:pt idx="8">
                  <c:v>kykNET</c:v>
                </c:pt>
                <c:pt idx="9">
                  <c:v>Discovery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891</c:v>
                </c:pt>
                <c:pt idx="4">
                  <c:v>793</c:v>
                </c:pt>
                <c:pt idx="5">
                  <c:v>714</c:v>
                </c:pt>
                <c:pt idx="6">
                  <c:v>612</c:v>
                </c:pt>
                <c:pt idx="7">
                  <c:v>548</c:v>
                </c:pt>
                <c:pt idx="8">
                  <c:v>489</c:v>
                </c:pt>
                <c:pt idx="9">
                  <c:v>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7D-4D06-944E-B68B568DC1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777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3D"/>
                </a:solidFill>
                <a:latin typeface="Georgia"/>
              </a:defRPr>
            </a:pPr>
            <a:r>
              <a:rPr lang="en-ZA" sz="1400" b="0" i="0" u="none" strike="noStrike">
                <a:solidFill>
                  <a:srgbClr val="0B1A3D"/>
                </a:solidFill>
                <a:latin typeface="Georgia"/>
              </a:rPr>
              <a:t>Sessions by age band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B1A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A3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&lt;18</c:v>
                </c:pt>
                <c:pt idx="1">
                  <c:v>18–24</c:v>
                </c:pt>
                <c:pt idx="2">
                  <c:v>25–34</c:v>
                </c:pt>
                <c:pt idx="3">
                  <c:v>35–44</c:v>
                </c:pt>
                <c:pt idx="4">
                  <c:v>45–54</c:v>
                </c:pt>
                <c:pt idx="5">
                  <c:v>55+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612</c:v>
                </c:pt>
                <c:pt idx="1">
                  <c:v>1284</c:v>
                </c:pt>
                <c:pt idx="2">
                  <c:v>4148</c:v>
                </c:pt>
                <c:pt idx="3">
                  <c:v>2105</c:v>
                </c:pt>
                <c:pt idx="4">
                  <c:v>982</c:v>
                </c:pt>
                <c:pt idx="5">
                  <c:v>412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2-4980-945A-797C43747E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A3D"/>
                </a:solidFill>
                <a:latin typeface="Georgia"/>
              </a:defRPr>
            </a:pPr>
            <a:r>
              <a:rPr lang="en-ZA" sz="1300" b="0" i="0" u="none" strike="noStrike">
                <a:solidFill>
                  <a:srgbClr val="0B1A3D"/>
                </a:solidFill>
                <a:latin typeface="Georgia"/>
              </a:rPr>
              <a:t>Gender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A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9C-4260-97C8-054B50F6444F}"/>
              </c:ext>
            </c:extLst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9C-4260-97C8-054B50F6444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D9C-4260-97C8-054B50F6444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D9C-4260-97C8-054B50F6444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9C-4260-97C8-054B50F644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3D"/>
                </a:solidFill>
                <a:latin typeface="Georgia"/>
              </a:defRPr>
            </a:pPr>
            <a:r>
              <a:rPr lang="en-ZA" sz="1400" b="0" i="0" u="none" strike="noStrike">
                <a:solidFill>
                  <a:srgbClr val="0B1A3D"/>
                </a:solidFill>
                <a:latin typeface="Georgia"/>
              </a:rPr>
              <a:t>Monthly sessions, Q1 2016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ln w="50800" cap="flat">
              <a:solidFill>
                <a:srgbClr val="F96167"/>
              </a:solidFill>
              <a:prstDash val="solid"/>
              <a:round/>
            </a:ln>
            <a:effectLst/>
          </c:spPr>
          <c:marker>
            <c:symbol val="circle"/>
            <c:size val="14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1A3D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2199</c:v>
                </c:pt>
                <c:pt idx="1">
                  <c:v>2980</c:v>
                </c:pt>
                <c:pt idx="2">
                  <c:v>4816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21-4957-9525-0693E903807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49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F96167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3200400" cy="3200400"/>
          </a:xfrm>
          <a:prstGeom prst="ellipse">
            <a:avLst/>
          </a:prstGeom>
          <a:solidFill>
            <a:srgbClr val="CADCFC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28600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•  CVM ANALYTICS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BrightTV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Viewership analysis &amp; growth product roadmap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turn 10,000 viewing events into a 90-day plan to grow subscribers and minutes watched.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035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BrightTV CVM team  •  Jan – Mar 2016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54480" y="1755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665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BrightTV asked us to solve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24140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724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sessions, 4,386 viewers, Q1 2016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5409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54480" y="30723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insights from the 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71246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54480" y="37307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roadmap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041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horizons, 12 initiatives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37083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5448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plan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700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 first, and what it's worth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554480" y="50474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53583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CVM Case Study  •  Q1 2016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THE BRIEF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BrightTV needs more minutes, more often, from more people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is an OTT video platform competing with Netflix, Showmax and DStv. The CVM team wants to use first-party viewership data to grow the subscriber base and lift consumption.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265176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watching?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geography, life-stage.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9260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926080"/>
            <a:ext cx="265176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1188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watching?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4114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Channels, genres, session length.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926080"/>
            <a:ext cx="265176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4652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watching?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4114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Days, dayparts, monthly trend.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52560" y="29260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2926080"/>
            <a:ext cx="265176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what?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28116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81160" y="4114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invest the next R for growth.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CVM Case Study  •  Q1 2016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THE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worked with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raw files joined on UserID, cleaned, timestamped to SAST (UTC+2), and feature-engineered for daypart, age band and duration.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060F2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sessions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2016, all channels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6517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060F2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4,386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viewers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2.28 sessions each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6517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060F2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89,893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watched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1,498 hours of viewing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26517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060F2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23544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match 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3544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gap = first-party data opportunity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2120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EXTRACT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42032" y="5138928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A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2788920" y="52120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52120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+ CLEAN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82312" y="5138928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A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029200" y="52120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52120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TO SAST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022592" y="5138928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A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269480" y="52120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52120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262872" y="5138928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A0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9509760" y="521208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0" y="52120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INSIGHTS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CVM Case Study  •  Q1 2016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things the data is telling 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572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91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965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 drives the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29514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(1,638) and ICC Cricket (1,465) are #1 and #2 channels. Cricket has the longest avg session — 16.9 min.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4572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691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82512" y="1965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Friday &amp; weekend peaks; Monday is the trough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82512" y="229514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1,675  •  Saturday 1,633  •  Sunday 1,419  •  Monday only 957. Mondays are 43% below Friday.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4572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3108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 time is 17:00–21:00 SAST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" y="343814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plateau through the day and spike in the evening. Late night (00–05) is the smallest daypart.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880360"/>
            <a:ext cx="4572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82512" y="3108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March is the strongest month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2512" y="343814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2,199  →  Feb 2,980  →  Mar 4,816. Growth aligns with the live-sport calendar.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4572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977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251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is male-skewed and adult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" y="458114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90% male. 25–34 is the largest cohort (~4,148 sessions). Under-18 and 55+ are growth gaps.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4023360"/>
            <a:ext cx="4572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3977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82512" y="4251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Geography is concentrated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82512" y="458114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(3,654) + Western Cape (1,845) = 55%+ of sessions. NC, FS, NW under-indexed.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166360"/>
            <a:ext cx="4572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5120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" y="5394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is shallow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" y="572414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9.4 min, only 2.28 sessions/viewer in 90 days. Real headroom on frequency.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5166360"/>
            <a:ext cx="4572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5120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82512" y="5394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Kids &amp; lifestyle are quietly large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82512" y="572414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Cartoon Network, Boomerang, Channel O all in the top 6 — co-viewing is a hidden lever.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CVM Case Study  •  Q1 2016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•  WHEN THEY WATCH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Friday wins. Monday loses. Evenings dominate.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37360"/>
          <a:ext cx="5669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400800" y="1737360"/>
          <a:ext cx="52120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•  Mondays + late nights are the cheapest minutes to win. Schedule appointment programming there first.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CVM Case Study  •  Q1 2016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•  WHAT THEY WATCH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 is the engine. Family &amp; lifestyle hide in the long tail.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37360"/>
          <a:ext cx="68580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82880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80960" y="1828800"/>
            <a:ext cx="73152" cy="1234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86384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sessions are sport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0" y="324612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0" y="3246120"/>
            <a:ext cx="73152" cy="1234440"/>
          </a:xfrm>
          <a:prstGeom prst="rect">
            <a:avLst/>
          </a:prstGeom>
          <a:solidFill>
            <a:srgbClr val="0B1A3D"/>
          </a:solidFill>
          <a:ln w="12700">
            <a:solidFill>
              <a:srgbClr val="0B1A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16.9 min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86384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cricket session — 1.8x platform avg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80960" y="46634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80960" y="4663440"/>
            <a:ext cx="73152" cy="1234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0" y="4754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of top 6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863840" y="5349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are kids / lifestyle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CVM Case Study  •  Q1 2016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•  WHO WATCHES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Adult, male-skewed, urban — and three big TAM gaps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37360"/>
          <a:ext cx="56692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400800" y="1737360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932688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provinces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32688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10698480" y="2212848"/>
            <a:ext cx="86868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612880" y="2148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3654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32688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Cape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0698480" y="2596896"/>
            <a:ext cx="43434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612880" y="25328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1845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9326880" y="29169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0698480" y="2980944"/>
            <a:ext cx="260604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612880" y="29169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9326880" y="33009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Cape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0698480" y="3364992"/>
            <a:ext cx="208483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612880" y="33009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9326880" y="3685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Mpumalanga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0698480" y="3749040"/>
            <a:ext cx="147676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612880" y="36850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326880" y="4069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Limpopo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10698480" y="4133088"/>
            <a:ext cx="112928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1612880" y="4069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0B1A3D"/>
          </a:solidFill>
          <a:ln w="12700">
            <a:solidFill>
              <a:srgbClr val="0B1A3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77240" y="5943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gaps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(only 10%)   •   Under-18 (high LTV future)   •   Northern Cape / Free State / North West (under-indexed)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CVM Case Study  •  Q1 2016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•  THE TRAJECTORY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Momentum is building — March was 2.2x January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37360"/>
          <a:ext cx="77724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92024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0" y="20574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+36%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59536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→ Feb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595360" y="333756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+62%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595360" y="4114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→ Mar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95360" y="475488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0" y="4892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+119%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595360" y="5532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→ Mar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•  Cricket World Cup + improving content scheduling. Risk: dependency on live-sport calendar — counterweight needed.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CVM Case Study  •  Q1 2016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GROWTH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horizons to grow BrightTV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quick wins on the existing audience to a re-imagined platform for the next 100,000 subscribers.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060F2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361188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Defend &amp; deepen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Night Live appointment block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Rewind on Tuesdays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Continue Watching + push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cinema strand (00–04)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37744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060F2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377440"/>
            <a:ext cx="3611880" cy="10972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the audience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Female-targeted lifestyle &amp; reality strand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co-view weekend AM block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CVM (NC, FS, NW, Limpopo)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First-party signup capture (close 27% gap)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237744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060F2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377440"/>
            <a:ext cx="3611880" cy="1097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months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6676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Reinvent the offer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6676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SA originals (Nguni &amp; Sotho drama)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ad-light &amp; sport-only plans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(&lt;18) edu-tainment + schools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Loyalty: streak rewards &amp; gamification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CVM Case Study  •  Q1 2016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vs effort  •  what we ship first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B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IMPACT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5989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0B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→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874520"/>
            <a:ext cx="49377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1874520"/>
            <a:ext cx="4937760" cy="91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203911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23317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  •  High impact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27432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Rewind (Tue evenings)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cinema strand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CVM promos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co-view AM block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66560" y="1874520"/>
            <a:ext cx="4937760" cy="2057400"/>
          </a:xfrm>
          <a:prstGeom prst="roundRect">
            <a:avLst>
              <a:gd name="adj" fmla="val 4444"/>
            </a:avLst>
          </a:prstGeom>
          <a:solidFill>
            <a:srgbClr val="0B1A3D"/>
          </a:solidFill>
          <a:ln w="12700">
            <a:solidFill>
              <a:srgbClr val="0B1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1874520"/>
            <a:ext cx="4937760" cy="91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203911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BETS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95160" y="23317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effort  •  High impact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27432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Night Live block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Watching + push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lifestyle strand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1st-party signup capture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645920" y="4114800"/>
            <a:ext cx="49377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4114800"/>
            <a:ext cx="4937760" cy="91440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19" name="Text 17"/>
          <p:cNvSpPr/>
          <p:nvPr/>
        </p:nvSpPr>
        <p:spPr>
          <a:xfrm>
            <a:off x="1874520" y="42793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FILL-INS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4572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  •  Lower impact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498348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streak rewards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A/B tests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Channel-page polish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66560" y="4114800"/>
            <a:ext cx="49377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4114800"/>
            <a:ext cx="4937760" cy="914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42793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MARKS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4572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effort  •  Uncertain impact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0" y="498348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SA originals (Nguni / Sotho)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sport-only plan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schools partnership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645920" y="6263640"/>
            <a:ext cx="8595360" cy="201168"/>
          </a:xfrm>
          <a:prstGeom prst="roundRect">
            <a:avLst>
              <a:gd name="adj" fmla="val 27273"/>
            </a:avLst>
          </a:prstGeom>
          <a:ln/>
        </p:spPr>
      </p:sp>
      <p:sp>
        <p:nvSpPr>
          <p:cNvPr id="28" name="Shape 26"/>
          <p:cNvSpPr/>
          <p:nvPr/>
        </p:nvSpPr>
        <p:spPr>
          <a:xfrm>
            <a:off x="1828800" y="6291072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9" name="Text 27"/>
          <p:cNvSpPr/>
          <p:nvPr/>
        </p:nvSpPr>
        <p:spPr>
          <a:xfrm>
            <a:off x="2057400" y="6236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 — ship now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6291072"/>
            <a:ext cx="146304" cy="146304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6236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 — next quarter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98080" y="629107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7726680" y="6236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 — strategic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CVM Case Study  •  Q1 2016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90-DAY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ship in the next quarter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55680" cy="502920"/>
          </a:xfrm>
          <a:prstGeom prst="rect">
            <a:avLst/>
          </a:prstGeom>
          <a:solidFill>
            <a:srgbClr val="0B1A3D"/>
          </a:solidFill>
          <a:ln w="12700">
            <a:solidFill>
              <a:srgbClr val="0B1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77640" y="1783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783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6948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12680" y="1783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1155680" cy="502920"/>
          </a:xfrm>
          <a:prstGeom prst="rect">
            <a:avLst/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86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Night Live block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2286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2286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948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sessions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1268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11155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7889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Rewind (Tue)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77640" y="2788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2788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6948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1268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11155680" cy="502920"/>
          </a:xfrm>
          <a:prstGeom prst="rect">
            <a:avLst/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Watching + push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77640" y="32918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32918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948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/ viewer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12680" y="3291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→ 3.0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11155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794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cinema (00–04)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77640" y="3794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3794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minutes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9480" y="3794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sessions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12680" y="3794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297680"/>
            <a:ext cx="11155680" cy="502920"/>
          </a:xfrm>
          <a:prstGeom prst="rect">
            <a:avLst/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297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CVM promos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77640" y="42976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23560" y="42976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69480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signups in NC/FS/NW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12680" y="4297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+2,500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800600"/>
            <a:ext cx="11155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4800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1st-party signup capture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77640" y="4800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23560" y="4800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69480" y="4800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match rate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012680" y="4800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→ 90%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54864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0B1A3D"/>
          </a:solidFill>
          <a:ln w="12700">
            <a:solidFill>
              <a:srgbClr val="0B1A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4864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sessions  •  +15% avg minutes  •  +5,000 new active viewers  •  90% profile match by end of Q2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CVM Case Study  •  Q1 2016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MAKE IT REAL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measure success — and what could go wrong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tree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4572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viewing minutes / week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17520"/>
            <a:ext cx="45720" cy="320040"/>
          </a:xfrm>
          <a:prstGeom prst="rect">
            <a:avLst/>
          </a:prstGeom>
          <a:solidFill>
            <a:srgbClr val="0B1A3D"/>
          </a:solidFill>
          <a:ln w="12700">
            <a:solidFill>
              <a:srgbClr val="0B1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26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activated viewers / month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611880"/>
            <a:ext cx="45720" cy="320040"/>
          </a:xfrm>
          <a:prstGeom prst="rect">
            <a:avLst/>
          </a:prstGeom>
          <a:solidFill>
            <a:srgbClr val="0B1A3D"/>
          </a:solidFill>
          <a:ln w="12700">
            <a:solidFill>
              <a:srgbClr val="0B1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per viewer / month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206240"/>
            <a:ext cx="45720" cy="320040"/>
          </a:xfrm>
          <a:prstGeom prst="rect">
            <a:avLst/>
          </a:prstGeom>
          <a:solidFill>
            <a:srgbClr val="0B1A3D"/>
          </a:solidFill>
          <a:ln w="12700">
            <a:solidFill>
              <a:srgbClr val="0B1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14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length (min)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800600"/>
            <a:ext cx="45720" cy="320040"/>
          </a:xfrm>
          <a:prstGeom prst="rect">
            <a:avLst/>
          </a:prstGeom>
          <a:solidFill>
            <a:srgbClr val="0B1A3D"/>
          </a:solidFill>
          <a:ln w="12700">
            <a:solidFill>
              <a:srgbClr val="0B1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09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983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viewers active 4+ weeks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394960"/>
            <a:ext cx="45720" cy="320040"/>
          </a:xfrm>
          <a:prstGeom prst="rect">
            <a:avLst/>
          </a:prstGeom>
          <a:solidFill>
            <a:srgbClr val="0B1A3D"/>
          </a:solidFill>
          <a:ln w="12700">
            <a:solidFill>
              <a:srgbClr val="0B1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303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5577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sessions with full profile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173736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0B1A3D"/>
          </a:solidFill>
          <a:ln w="12700">
            <a:solidFill>
              <a:srgbClr val="0B1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mitigations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4652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Live-sport dependency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evergreen drama + library strands as counterweight.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3044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27% profile-match gap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33192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signup-on-stream + progressive profiling.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7581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Female &amp; under-18 gaps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9400" y="403250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programming pods with separate budgets.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4714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Mobile data cost in SA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47457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data-bundle partnerships per province.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51846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Schedule cannibalisation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29400" y="54589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horizon 1 as an A/B test by region.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CVM Case Study  •  Q1 2016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F9616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CADCFC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grow BrightTV.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 powers the platform today. Habit, data and local stories will power it tomorrow.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C6C39A026D8947B5AD2DEBEE65EF78" ma:contentTypeVersion="4" ma:contentTypeDescription="Create a new document." ma:contentTypeScope="" ma:versionID="1da0ebc109a2b136691acda461d461be">
  <xsd:schema xmlns:xsd="http://www.w3.org/2001/XMLSchema" xmlns:xs="http://www.w3.org/2001/XMLSchema" xmlns:p="http://schemas.microsoft.com/office/2006/metadata/properties" xmlns:ns3="8d3c6ffa-4e67-4828-b85c-e7d8816c8d4f" targetNamespace="http://schemas.microsoft.com/office/2006/metadata/properties" ma:root="true" ma:fieldsID="2850de39e4b50f84ef8fe6fa0be3e754" ns3:_="">
    <xsd:import namespace="8d3c6ffa-4e67-4828-b85c-e7d8816c8d4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3c6ffa-4e67-4828-b85c-e7d8816c8d4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1437EF-F4CA-4056-832F-3F6A6AD48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3c6ffa-4e67-4828-b85c-e7d8816c8d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B938BE-9489-43E6-86F7-79B017794F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206B45-4A28-4F3C-B1E1-84C953ACD9AB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2006/metadata/properties"/>
    <ds:schemaRef ds:uri="8d3c6ffa-4e67-4828-b85c-e7d8816c8d4f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1371</Words>
  <Application>Microsoft Office PowerPoint</Application>
  <PresentationFormat>Widescreen</PresentationFormat>
  <Paragraphs>292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— Case Study Presentation</dc:title>
  <dc:subject>PptxGenJS Presentation</dc:subject>
  <dc:creator>PptxGenJS</dc:creator>
  <cp:lastModifiedBy>MS REFILOE RAMADIMETJA MAKUNYANE (202246752)</cp:lastModifiedBy>
  <cp:revision>2</cp:revision>
  <dcterms:created xsi:type="dcterms:W3CDTF">2026-04-19T05:50:47Z</dcterms:created>
  <dcterms:modified xsi:type="dcterms:W3CDTF">2026-04-19T17:36:13Z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0x0101007CC6C39A026D8947B5AD2DEBEE65EF78</vt:lpwstr>
  </property>
</Properties>
</file>